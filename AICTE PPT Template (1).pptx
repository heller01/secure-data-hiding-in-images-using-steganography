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3" r:id="rId8"/>
    <p:sldId id="265" r:id="rId9"/>
    <p:sldId id="2146847057" r:id="rId10"/>
    <p:sldId id="2146847060" r:id="rId11"/>
    <p:sldId id="2146847062" r:id="rId12"/>
    <p:sldId id="2146847061" r:id="rId13"/>
    <p:sldId id="2146847055"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5" autoAdjust="0"/>
    <p:restoredTop sz="94660"/>
  </p:normalViewPr>
  <p:slideViewPr>
    <p:cSldViewPr snapToGrid="0">
      <p:cViewPr varScale="1">
        <p:scale>
          <a:sx n="84" d="100"/>
          <a:sy n="84" d="100"/>
        </p:scale>
        <p:origin x="65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20-02-2025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2/20/2025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2/20/2025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2/20/2025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2/20/2025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2/20/2025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2/20/2025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2/20/2025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2/20/2025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Secure data hiding in image using steganography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 Ayushman Maurya</a:t>
            </a:r>
          </a:p>
          <a:p>
            <a:r>
              <a:rPr lang="en-US" sz="2000" b="1" dirty="0">
                <a:solidFill>
                  <a:schemeClr val="accent1">
                    <a:lumMod val="75000"/>
                  </a:schemeClr>
                </a:solidFill>
                <a:latin typeface="Arial"/>
                <a:cs typeface="Arial"/>
              </a:rPr>
              <a:t>Student Name : Ayushman Maurya</a:t>
            </a:r>
          </a:p>
          <a:p>
            <a:r>
              <a:rPr lang="en-US" sz="2000" b="1" dirty="0">
                <a:solidFill>
                  <a:schemeClr val="accent1">
                    <a:lumMod val="75000"/>
                  </a:schemeClr>
                </a:solidFill>
                <a:latin typeface="Arial"/>
                <a:cs typeface="Arial"/>
              </a:rPr>
              <a:t>College Name: Bundelkhand Institute of Engineering and Technology Jhansi </a:t>
            </a:r>
          </a:p>
          <a:p>
            <a:r>
              <a:rPr lang="en-US" sz="2000" b="1" dirty="0">
                <a:solidFill>
                  <a:schemeClr val="accent1">
                    <a:lumMod val="75000"/>
                  </a:schemeClr>
                </a:solidFill>
                <a:latin typeface="Arial"/>
                <a:cs typeface="Arial"/>
              </a:rPr>
              <a:t>Department: Electronics and Communication Engineering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81192" y="1335024"/>
            <a:ext cx="11029615" cy="3218688"/>
          </a:xfrm>
        </p:spPr>
        <p:txBody>
          <a:bodyPr>
            <a:normAutofit/>
          </a:bodyPr>
          <a:lstStyle/>
          <a:p>
            <a:pPr marL="0" indent="0" algn="just">
              <a:buNone/>
            </a:pPr>
            <a:r>
              <a:rPr lang="en-US" sz="1800" dirty="0">
                <a:latin typeface="Arial" panose="020B0604020202020204" pitchFamily="34" charset="0"/>
                <a:cs typeface="Arial" panose="020B0604020202020204" pitchFamily="34" charset="0"/>
              </a:rPr>
              <a:t>Existing steganography tools often present a complex or technical interface, making them inaccessible to non-technical users. This project aims to develop a user-friendly steganography application that simplifies the process of embedding and extracting hidden data within images, while maintaining a high level of security. While steganography offers a means of hiding data within images, existing methods often lack sufficient security.  Vulnerabilities can include susceptibility to steganalysis (detection of hidden data), weak or non-existent encryption of the embedded data, and reliance on easily guessable or weak passwords. This necessitates the development of steganographic techniques that provide strong security against detection and unauthorized access, ensuring the confidentiality and integrity of hidden information.</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US" sz="2000" b="1" dirty="0">
                <a:latin typeface="Arial" panose="020B0604020202020204" pitchFamily="34" charset="0"/>
                <a:cs typeface="Arial" panose="020B0604020202020204" pitchFamily="34" charset="0"/>
              </a:rPr>
              <a:t>System Requirements -</a:t>
            </a:r>
          </a:p>
          <a:p>
            <a:pPr>
              <a:buFont typeface="Arial" panose="020B0604020202020204" pitchFamily="34" charset="0"/>
              <a:buChar char="•"/>
            </a:pPr>
            <a:r>
              <a:rPr lang="en-US" sz="1800" b="1" dirty="0"/>
              <a:t>Operating Systems:</a:t>
            </a:r>
            <a:r>
              <a:rPr lang="en-US" sz="1800" dirty="0"/>
              <a:t> The code should work on any operating system that supports Python and the required libraries.</a:t>
            </a:r>
            <a:endParaRPr lang="en-US" sz="18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Python Version should be older than 2.7 and it is recommended to use python3.</a:t>
            </a:r>
          </a:p>
          <a:p>
            <a:pPr marL="0" indent="0">
              <a:buNone/>
            </a:pPr>
            <a:r>
              <a:rPr lang="en-US" sz="2000" b="1" dirty="0">
                <a:latin typeface="Arial" panose="020B0604020202020204" pitchFamily="34" charset="0"/>
                <a:cs typeface="Arial" panose="020B0604020202020204" pitchFamily="34" charset="0"/>
              </a:rPr>
              <a:t>Libraries -</a:t>
            </a:r>
          </a:p>
          <a:p>
            <a:pPr>
              <a:buFont typeface="Arial" panose="020B0604020202020204" pitchFamily="34" charset="0"/>
              <a:buChar char="•"/>
            </a:pPr>
            <a:r>
              <a:rPr lang="en-US" sz="1800" b="1" dirty="0" err="1">
                <a:latin typeface="Arial" panose="020B0604020202020204" pitchFamily="34" charset="0"/>
                <a:cs typeface="Arial" panose="020B0604020202020204" pitchFamily="34" charset="0"/>
              </a:rPr>
              <a:t>Tkinter</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Standard Python library for creating graphical user interfaces (GUIs). It's usually included with Python installations.</a:t>
            </a:r>
            <a:endParaRPr lang="en-IN" sz="18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cv2 (OpenCV): </a:t>
            </a:r>
            <a:r>
              <a:rPr lang="en-US" sz="1800" dirty="0">
                <a:latin typeface="Arial" panose="020B0604020202020204" pitchFamily="34" charset="0"/>
                <a:cs typeface="Arial" panose="020B0604020202020204" pitchFamily="34" charset="0"/>
              </a:rPr>
              <a:t>Used for image processing, specifically reading and writing images.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OS: </a:t>
            </a:r>
            <a:r>
              <a:rPr lang="en-US" sz="1800" dirty="0">
                <a:latin typeface="Arial" panose="020B0604020202020204" pitchFamily="34" charset="0"/>
                <a:cs typeface="Arial" panose="020B0604020202020204" pitchFamily="34" charset="0"/>
              </a:rPr>
              <a:t>Standard Python library for interacting with the operating system (e.g., getting the current directory).</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PIL (Pillow): </a:t>
            </a:r>
            <a:r>
              <a:rPr lang="en-US" sz="1800" dirty="0">
                <a:latin typeface="Arial" panose="020B0604020202020204" pitchFamily="34" charset="0"/>
                <a:cs typeface="Arial" panose="020B0604020202020204" pitchFamily="34" charset="0"/>
              </a:rPr>
              <a:t>Used for image manipulation and working with various image formats, especially for displaying images in the </a:t>
            </a:r>
            <a:r>
              <a:rPr lang="en-US" sz="1800" dirty="0" err="1">
                <a:latin typeface="Arial" panose="020B0604020202020204" pitchFamily="34" charset="0"/>
                <a:cs typeface="Arial" panose="020B0604020202020204" pitchFamily="34" charset="0"/>
              </a:rPr>
              <a:t>Tkinter</a:t>
            </a:r>
            <a:r>
              <a:rPr lang="en-US" sz="1800" dirty="0">
                <a:latin typeface="Arial" panose="020B0604020202020204" pitchFamily="34" charset="0"/>
                <a:cs typeface="Arial" panose="020B0604020202020204" pitchFamily="34" charset="0"/>
              </a:rPr>
              <a:t> GUI. </a:t>
            </a:r>
          </a:p>
          <a:p>
            <a:pPr>
              <a:buFont typeface="Arial" panose="020B0604020202020204" pitchFamily="34" charset="0"/>
              <a:buChar char="•"/>
            </a:pPr>
            <a:r>
              <a:rPr lang="en-US" sz="1800" b="1" dirty="0" err="1">
                <a:latin typeface="Arial" panose="020B0604020202020204" pitchFamily="34" charset="0"/>
                <a:cs typeface="Arial" panose="020B0604020202020204" pitchFamily="34" charset="0"/>
              </a:rPr>
              <a:t>Stegano</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 library specifically for steganography. It provides the </a:t>
            </a:r>
            <a:r>
              <a:rPr lang="en-US" sz="1800" dirty="0" err="1">
                <a:latin typeface="Arial" panose="020B0604020202020204" pitchFamily="34" charset="0"/>
                <a:cs typeface="Arial" panose="020B0604020202020204" pitchFamily="34" charset="0"/>
              </a:rPr>
              <a:t>lsb.hide</a:t>
            </a:r>
            <a:r>
              <a:rPr lang="en-US" sz="1800" dirty="0">
                <a:latin typeface="Arial" panose="020B0604020202020204" pitchFamily="34" charset="0"/>
                <a:cs typeface="Arial" panose="020B0604020202020204" pitchFamily="34" charset="0"/>
              </a:rPr>
              <a:t> and </a:t>
            </a:r>
            <a:r>
              <a:rPr lang="en-US" sz="1800" dirty="0" err="1">
                <a:latin typeface="Arial" panose="020B0604020202020204" pitchFamily="34" charset="0"/>
                <a:cs typeface="Arial" panose="020B0604020202020204" pitchFamily="34" charset="0"/>
              </a:rPr>
              <a:t>lsb.reveal</a:t>
            </a:r>
            <a:r>
              <a:rPr lang="en-US" sz="1800" dirty="0">
                <a:latin typeface="Arial" panose="020B0604020202020204" pitchFamily="34" charset="0"/>
                <a:cs typeface="Arial" panose="020B0604020202020204" pitchFamily="34" charset="0"/>
              </a:rPr>
              <a:t> functions you're using.</a:t>
            </a:r>
            <a:endParaRPr lang="en-US" sz="18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1" y="1585490"/>
            <a:ext cx="11029615" cy="4673324"/>
          </a:xfrm>
        </p:spPr>
        <p:txBody>
          <a:bodyPr>
            <a:normAutofit/>
          </a:bodyPr>
          <a:lstStyle/>
          <a:p>
            <a:r>
              <a:rPr lang="en-US" sz="1800" b="1" dirty="0">
                <a:latin typeface="Arial" panose="020B0604020202020204" pitchFamily="34" charset="0"/>
                <a:cs typeface="Arial" panose="020B0604020202020204" pitchFamily="34" charset="0"/>
              </a:rPr>
              <a:t>Password Protection:</a:t>
            </a:r>
            <a:r>
              <a:rPr lang="en-US" sz="1800" dirty="0">
                <a:latin typeface="Arial" panose="020B0604020202020204" pitchFamily="34" charset="0"/>
                <a:cs typeface="Arial" panose="020B0604020202020204" pitchFamily="34" charset="0"/>
              </a:rPr>
              <a:t> The most significant feature is the </a:t>
            </a:r>
            <a:r>
              <a:rPr lang="en-US" sz="1800" b="1" dirty="0">
                <a:latin typeface="Arial" panose="020B0604020202020204" pitchFamily="34" charset="0"/>
                <a:cs typeface="Arial" panose="020B0604020202020204" pitchFamily="34" charset="0"/>
              </a:rPr>
              <a:t>inclusion of password protection</a:t>
            </a:r>
            <a:r>
              <a:rPr lang="en-US" sz="1800" dirty="0">
                <a:latin typeface="Arial" panose="020B0604020202020204" pitchFamily="34" charset="0"/>
                <a:cs typeface="Arial" panose="020B0604020202020204" pitchFamily="34" charset="0"/>
              </a:rPr>
              <a:t>. This is crucial for security. It ensures that only someone with the correct password can retrieve the hidden message, even if they have the steganographic image. This directly addresses a major vulnerability in basic steganography implementations.</a:t>
            </a:r>
            <a:endParaRPr lang="en-IN" sz="1800" b="1" dirty="0">
              <a:solidFill>
                <a:srgbClr val="0F0F0F"/>
              </a:solidFill>
              <a:latin typeface="Arial" panose="020B0604020202020204" pitchFamily="34" charset="0"/>
              <a:cs typeface="Arial" panose="020B0604020202020204" pitchFamily="34" charset="0"/>
            </a:endParaRPr>
          </a:p>
          <a:p>
            <a:r>
              <a:rPr lang="en-US" sz="1800" b="1" dirty="0">
                <a:solidFill>
                  <a:srgbClr val="0F0F0F"/>
                </a:solidFill>
                <a:latin typeface="Arial" panose="020B0604020202020204" pitchFamily="34" charset="0"/>
                <a:cs typeface="Arial" panose="020B0604020202020204" pitchFamily="34" charset="0"/>
              </a:rPr>
              <a:t>Error Handling: </a:t>
            </a:r>
            <a:r>
              <a:rPr lang="en-US" sz="1800" dirty="0">
                <a:solidFill>
                  <a:srgbClr val="0F0F0F"/>
                </a:solidFill>
                <a:latin typeface="Arial" panose="020B0604020202020204" pitchFamily="34" charset="0"/>
                <a:cs typeface="Arial" panose="020B0604020202020204" pitchFamily="34" charset="0"/>
              </a:rPr>
              <a:t>The code includes basic error handling (using try...except blocks and </a:t>
            </a:r>
            <a:r>
              <a:rPr lang="en-US" sz="1800" dirty="0" err="1">
                <a:solidFill>
                  <a:srgbClr val="0F0F0F"/>
                </a:solidFill>
                <a:latin typeface="Arial" panose="020B0604020202020204" pitchFamily="34" charset="0"/>
                <a:cs typeface="Arial" panose="020B0604020202020204" pitchFamily="34" charset="0"/>
              </a:rPr>
              <a:t>messagebox</a:t>
            </a:r>
            <a:r>
              <a:rPr lang="en-US" sz="1800" dirty="0">
                <a:solidFill>
                  <a:srgbClr val="0F0F0F"/>
                </a:solidFill>
                <a:latin typeface="Arial" panose="020B0604020202020204" pitchFamily="34" charset="0"/>
                <a:cs typeface="Arial" panose="020B0604020202020204" pitchFamily="34" charset="0"/>
              </a:rPr>
              <a:t> warnings) to catch common issues like missing images or incorrect passwords. This makes the application more user-friendly and robust. </a:t>
            </a:r>
          </a:p>
          <a:p>
            <a:r>
              <a:rPr lang="en-US" sz="1800" b="1" dirty="0">
                <a:latin typeface="Arial" panose="020B0604020202020204" pitchFamily="34" charset="0"/>
                <a:cs typeface="Arial" panose="020B0604020202020204" pitchFamily="34" charset="0"/>
              </a:rPr>
              <a:t>Image Format Support:</a:t>
            </a:r>
            <a:r>
              <a:rPr lang="en-US" sz="1800" dirty="0">
                <a:latin typeface="Arial" panose="020B0604020202020204" pitchFamily="34" charset="0"/>
                <a:cs typeface="Arial" panose="020B0604020202020204" pitchFamily="34" charset="0"/>
              </a:rPr>
              <a:t> The code supports multiple common image formats (PNG, JPG, JPEG) for both embedding and retrieving messages.</a:t>
            </a:r>
            <a:endParaRPr lang="en-US" sz="1800" dirty="0">
              <a:solidFill>
                <a:srgbClr val="0F0F0F"/>
              </a:solidFill>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rPr>
              <a:t>User-Friendly GUI:</a:t>
            </a:r>
            <a:r>
              <a:rPr lang="en-US" sz="1800" dirty="0">
                <a:latin typeface="Arial" panose="020B0604020202020204" pitchFamily="34" charset="0"/>
                <a:cs typeface="Arial" panose="020B0604020202020204" pitchFamily="34" charset="0"/>
              </a:rPr>
              <a:t> The use of </a:t>
            </a:r>
            <a:r>
              <a:rPr lang="en-US" sz="1800" dirty="0" err="1">
                <a:latin typeface="Arial" panose="020B0604020202020204" pitchFamily="34" charset="0"/>
                <a:cs typeface="Arial" panose="020B0604020202020204" pitchFamily="34" charset="0"/>
              </a:rPr>
              <a:t>Tkinter</a:t>
            </a:r>
            <a:r>
              <a:rPr lang="en-US" sz="1800" dirty="0">
                <a:latin typeface="Arial" panose="020B0604020202020204" pitchFamily="34" charset="0"/>
                <a:cs typeface="Arial" panose="020B0604020202020204" pitchFamily="34" charset="0"/>
              </a:rPr>
              <a:t> provides a graphical user interface (GUI), making the application accessible to users who may not be comfortable with command-line tools. The GUI simplifies the process of selecting images, entering messages, and saving the steganographic image.</a:t>
            </a:r>
            <a:endParaRPr lang="en-US" sz="1800" dirty="0">
              <a:solidFill>
                <a:srgbClr val="0F0F0F"/>
              </a:solidFill>
              <a:latin typeface="Arial" panose="020B0604020202020204" pitchFamily="34" charset="0"/>
              <a:cs typeface="Arial" panose="020B0604020202020204" pitchFamily="34" charset="0"/>
            </a:endParaRPr>
          </a:p>
          <a:p>
            <a:pPr marL="0" indent="0">
              <a:buNone/>
            </a:pPr>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p:txBody>
          <a:bodyPr>
            <a:normAutofit fontScale="92500" lnSpcReduction="20000"/>
          </a:bodyPr>
          <a:lstStyle/>
          <a:p>
            <a:pPr marL="0" indent="0">
              <a:buNone/>
            </a:pPr>
            <a:r>
              <a:rPr lang="en-US" sz="2200" b="1" dirty="0">
                <a:latin typeface="Arial" panose="020B0604020202020204" pitchFamily="34" charset="0"/>
                <a:cs typeface="Arial" panose="020B0604020202020204" pitchFamily="34" charset="0"/>
              </a:rPr>
              <a:t>Individuals:</a:t>
            </a:r>
            <a:endParaRPr lang="en-US" sz="22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Privacy-conscious users:</a:t>
            </a:r>
            <a:r>
              <a:rPr lang="en-US" sz="1900" dirty="0">
                <a:latin typeface="Arial" panose="020B0604020202020204" pitchFamily="34" charset="0"/>
                <a:cs typeface="Arial" panose="020B0604020202020204" pitchFamily="34" charset="0"/>
              </a:rPr>
              <a:t> People who want to send messages or information discreetly, without it being obvious that they are doing so. This could be for personal or sensitive communication.</a:t>
            </a: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Journalists and whistleblowers:</a:t>
            </a:r>
            <a:r>
              <a:rPr lang="en-US" sz="1900" dirty="0">
                <a:latin typeface="Arial" panose="020B0604020202020204" pitchFamily="34" charset="0"/>
                <a:cs typeface="Arial" panose="020B0604020202020204" pitchFamily="34" charset="0"/>
              </a:rPr>
              <a:t> Those who need to communicate confidentially with sources or share sensitive information without fear of interception.</a:t>
            </a: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Activists and dissidents:</a:t>
            </a:r>
            <a:r>
              <a:rPr lang="en-US" sz="1900" dirty="0">
                <a:latin typeface="Arial" panose="020B0604020202020204" pitchFamily="34" charset="0"/>
                <a:cs typeface="Arial" panose="020B0604020202020204" pitchFamily="34" charset="0"/>
              </a:rPr>
              <a:t> Individuals in countries with restricted internet access or surveillance who need to communicate securely.</a:t>
            </a:r>
          </a:p>
          <a:p>
            <a:pPr marL="0" indent="0">
              <a:buNone/>
            </a:pPr>
            <a:r>
              <a:rPr lang="en-US" sz="2200" b="1" dirty="0">
                <a:latin typeface="Arial" panose="020B0604020202020204" pitchFamily="34" charset="0"/>
                <a:cs typeface="Arial" panose="020B0604020202020204" pitchFamily="34" charset="0"/>
              </a:rPr>
              <a:t>Organizations:</a:t>
            </a:r>
            <a:endParaRPr lang="en-US" sz="22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Businesses:</a:t>
            </a:r>
            <a:r>
              <a:rPr lang="en-US" sz="1900" dirty="0">
                <a:latin typeface="Arial" panose="020B0604020202020204" pitchFamily="34" charset="0"/>
                <a:cs typeface="Arial" panose="020B0604020202020204" pitchFamily="34" charset="0"/>
              </a:rPr>
              <a:t> For secure internal communication, sharing confidential documents, or protecting trade secrets.</a:t>
            </a: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Government agencies:</a:t>
            </a:r>
            <a:r>
              <a:rPr lang="en-US" sz="1900" dirty="0">
                <a:latin typeface="Arial" panose="020B0604020202020204" pitchFamily="34" charset="0"/>
                <a:cs typeface="Arial" panose="020B0604020202020204" pitchFamily="34" charset="0"/>
              </a:rPr>
              <a:t> For discreet communication and information sharing (though they likely have more sophisticated tools).</a:t>
            </a:r>
          </a:p>
          <a:p>
            <a:pPr>
              <a:buFont typeface="Arial" panose="020B0604020202020204" pitchFamily="34" charset="0"/>
              <a:buChar char="•"/>
            </a:pPr>
            <a:r>
              <a:rPr lang="en-US" sz="1900" b="1" dirty="0">
                <a:latin typeface="Arial" panose="020B0604020202020204" pitchFamily="34" charset="0"/>
                <a:cs typeface="Arial" panose="020B0604020202020204" pitchFamily="34" charset="0"/>
              </a:rPr>
              <a:t>Law enforcement:</a:t>
            </a:r>
            <a:r>
              <a:rPr lang="en-US" sz="1900" dirty="0">
                <a:latin typeface="Arial" panose="020B0604020202020204" pitchFamily="34" charset="0"/>
                <a:cs typeface="Arial" panose="020B0604020202020204" pitchFamily="34" charset="0"/>
              </a:rPr>
              <a:t> For covert communication and evidence gathering (again, they may have specialized tools).</a:t>
            </a:r>
          </a:p>
          <a:p>
            <a:pPr marL="0" indent="0">
              <a:buNone/>
            </a:pPr>
            <a:endParaRPr lang="en-IN" dirty="0"/>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5" name="Content Placeholder 4" descr="A screenshot of a computer program&#10;&#10;AI-generated content may be incorrect.">
            <a:extLst>
              <a:ext uri="{FF2B5EF4-FFF2-40B4-BE49-F238E27FC236}">
                <a16:creationId xmlns:a16="http://schemas.microsoft.com/office/drawing/2014/main" id="{3DBA6E69-AA21-49FC-D4A0-C8A9C15A9397}"/>
              </a:ext>
            </a:extLst>
          </p:cNvPr>
          <p:cNvPicPr>
            <a:picLocks noGrp="1" noChangeAspect="1"/>
          </p:cNvPicPr>
          <p:nvPr>
            <p:ph idx="1"/>
          </p:nvPr>
        </p:nvPicPr>
        <p:blipFill>
          <a:blip r:embed="rId2"/>
          <a:stretch>
            <a:fillRect/>
          </a:stretch>
        </p:blipFill>
        <p:spPr>
          <a:xfrm>
            <a:off x="1315324" y="1451338"/>
            <a:ext cx="2507942" cy="1780811"/>
          </a:xfrm>
        </p:spPr>
      </p:pic>
      <p:pic>
        <p:nvPicPr>
          <p:cNvPr id="7" name="Picture 6" descr="A screenshot of a computer program&#10;&#10;AI-generated content may be incorrect.">
            <a:extLst>
              <a:ext uri="{FF2B5EF4-FFF2-40B4-BE49-F238E27FC236}">
                <a16:creationId xmlns:a16="http://schemas.microsoft.com/office/drawing/2014/main" id="{93EE0647-D6FA-D20C-E72B-029D11999509}"/>
              </a:ext>
            </a:extLst>
          </p:cNvPr>
          <p:cNvPicPr>
            <a:picLocks noChangeAspect="1"/>
          </p:cNvPicPr>
          <p:nvPr/>
        </p:nvPicPr>
        <p:blipFill>
          <a:blip r:embed="rId3"/>
          <a:stretch>
            <a:fillRect/>
          </a:stretch>
        </p:blipFill>
        <p:spPr>
          <a:xfrm>
            <a:off x="4752394" y="1451338"/>
            <a:ext cx="2507942" cy="1780811"/>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3F54499A-8DAB-8F93-49D9-F4CBD7E808A9}"/>
              </a:ext>
            </a:extLst>
          </p:cNvPr>
          <p:cNvPicPr>
            <a:picLocks noChangeAspect="1"/>
          </p:cNvPicPr>
          <p:nvPr/>
        </p:nvPicPr>
        <p:blipFill>
          <a:blip r:embed="rId4"/>
          <a:stretch>
            <a:fillRect/>
          </a:stretch>
        </p:blipFill>
        <p:spPr>
          <a:xfrm>
            <a:off x="8170195" y="1451337"/>
            <a:ext cx="2706481" cy="1780811"/>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4095F6F9-CE36-B4EF-C984-BF75401F90C7}"/>
              </a:ext>
            </a:extLst>
          </p:cNvPr>
          <p:cNvPicPr>
            <a:picLocks noChangeAspect="1"/>
          </p:cNvPicPr>
          <p:nvPr/>
        </p:nvPicPr>
        <p:blipFill>
          <a:blip r:embed="rId5"/>
          <a:stretch>
            <a:fillRect/>
          </a:stretch>
        </p:blipFill>
        <p:spPr>
          <a:xfrm>
            <a:off x="1315324" y="4119934"/>
            <a:ext cx="2507942" cy="203591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0D4053E9-5AF6-7EA9-F54C-802710A0ED4D}"/>
              </a:ext>
            </a:extLst>
          </p:cNvPr>
          <p:cNvPicPr>
            <a:picLocks noChangeAspect="1"/>
          </p:cNvPicPr>
          <p:nvPr/>
        </p:nvPicPr>
        <p:blipFill>
          <a:blip r:embed="rId6"/>
          <a:stretch>
            <a:fillRect/>
          </a:stretch>
        </p:blipFill>
        <p:spPr>
          <a:xfrm>
            <a:off x="4752394" y="4119934"/>
            <a:ext cx="2507942" cy="2035910"/>
          </a:xfrm>
          <a:prstGeom prst="rect">
            <a:avLst/>
          </a:prstGeom>
        </p:spPr>
      </p:pic>
      <p:pic>
        <p:nvPicPr>
          <p:cNvPr id="15" name="Picture 14" descr="A screenshot of a computer screen&#10;&#10;AI-generated content may be incorrect.">
            <a:extLst>
              <a:ext uri="{FF2B5EF4-FFF2-40B4-BE49-F238E27FC236}">
                <a16:creationId xmlns:a16="http://schemas.microsoft.com/office/drawing/2014/main" id="{2EE0D5E3-8544-5403-FBC0-CBE739DD5DB7}"/>
              </a:ext>
            </a:extLst>
          </p:cNvPr>
          <p:cNvPicPr>
            <a:picLocks noChangeAspect="1"/>
          </p:cNvPicPr>
          <p:nvPr/>
        </p:nvPicPr>
        <p:blipFill>
          <a:blip r:embed="rId7"/>
          <a:stretch>
            <a:fillRect/>
          </a:stretch>
        </p:blipFill>
        <p:spPr>
          <a:xfrm>
            <a:off x="8170195" y="4119934"/>
            <a:ext cx="2706481" cy="2035910"/>
          </a:xfrm>
          <a:prstGeom prst="rect">
            <a:avLst/>
          </a:prstGeom>
        </p:spPr>
      </p:pic>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a:xfrm>
            <a:off x="581192" y="1302026"/>
            <a:ext cx="11029615" cy="5190214"/>
          </a:xfrm>
        </p:spPr>
        <p:txBody>
          <a:bodyPr>
            <a:noAutofit/>
          </a:bodyPr>
          <a:lstStyle/>
          <a:p>
            <a:pPr marL="0" indent="0" algn="just">
              <a:buNone/>
            </a:pPr>
            <a:r>
              <a:rPr lang="en-US" sz="1800" dirty="0">
                <a:latin typeface="Arial" panose="020B0604020202020204" pitchFamily="34" charset="0"/>
                <a:cs typeface="Arial" panose="020B0604020202020204" pitchFamily="34" charset="0"/>
              </a:rPr>
              <a:t>This project successfully addressed the challenge of creating a user-friendly and secure steganography application.  Recognizing that existing tools often present complex interfaces, hindering accessibility for non-technical users, this project prioritized simplicity and ease of use. A graphical user interface (GUI) was developed to streamline the process of embedding and extracting hidden data within images, making steganography accessible to a broader audience.  Furthermore, acknowledging the security vulnerabilities prevalent in many current steganographic methods, this project incorporated robust security measures.  Specifically, the implementation of password protection ensures that only authorized individuals with the correct password can access the hidden information, mitigating the risk of unauthorized disclosure.  The project leveraged the Least Significant Bit (LSB) technique for data embedding, balancing capacity with imperceptibility.  While the current implementation focuses on textual data and password-based security, future development could explore incorporating stronger encryption algorithms (such as AES) to further enhance confidentiality and integrating more advanced steganographic techniques to improve resistance against steganalysis.  Additionally, expanding support for diverse data types beyond text and exploring methods to automatically assess image capacity to prevent data loss would be valuable extensions.  Overall, this project provides a significant step towards democratizing access to secure steganography by combining user-friendliness with essential security features, thus empowering non-technical users to protect their sensitive information.</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388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a:xfrm>
            <a:off x="581192" y="1517904"/>
            <a:ext cx="8654248" cy="1728216"/>
          </a:xfrm>
        </p:spPr>
        <p:txBody>
          <a:bodyPr/>
          <a:lstStyle/>
          <a:p>
            <a:pPr marL="0" indent="0">
              <a:buNone/>
            </a:pPr>
            <a:r>
              <a:rPr lang="en-IN" dirty="0"/>
              <a:t>https://github.com/Heller01/Secure-Data-Hiding-in-Images-Using-Steganography.git</a:t>
            </a:r>
          </a:p>
        </p:txBody>
      </p:sp>
    </p:spTree>
    <p:extLst>
      <p:ext uri="{BB962C8B-B14F-4D97-AF65-F5344CB8AC3E}">
        <p14:creationId xmlns:p14="http://schemas.microsoft.com/office/powerpoint/2010/main" val="223066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35670" y="1682496"/>
            <a:ext cx="11075137" cy="4292854"/>
          </a:xfrm>
        </p:spPr>
        <p:txBody>
          <a:bodyPr>
            <a:normAutofit fontScale="92500" lnSpcReduction="10000"/>
          </a:bodyPr>
          <a:lstStyle/>
          <a:p>
            <a:pPr marL="0" indent="0">
              <a:buNone/>
            </a:pPr>
            <a:r>
              <a:rPr lang="en-US" sz="2000" b="1" dirty="0">
                <a:latin typeface="Arial" panose="020B0604020202020204" pitchFamily="34" charset="0"/>
                <a:cs typeface="Arial" panose="020B0604020202020204" pitchFamily="34" charset="0"/>
              </a:rPr>
              <a:t>Security Enhancements: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Stronger Encryption:</a:t>
            </a:r>
            <a:r>
              <a:rPr lang="en-US" sz="1800" dirty="0">
                <a:latin typeface="Arial" panose="020B0604020202020204" pitchFamily="34" charset="0"/>
                <a:cs typeface="Arial" panose="020B0604020202020204" pitchFamily="34" charset="0"/>
              </a:rPr>
              <a:t> Integrate robust encryption algorithms like AES-256 to encrypt the hidden message before embedding it. This would provide an additional layer of security, even if the steganographic method is compromised.</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Key Derivation Function (KDF):</a:t>
            </a:r>
            <a:r>
              <a:rPr lang="en-US" sz="1800" dirty="0">
                <a:latin typeface="Arial" panose="020B0604020202020204" pitchFamily="34" charset="0"/>
                <a:cs typeface="Arial" panose="020B0604020202020204" pitchFamily="34" charset="0"/>
              </a:rPr>
              <a:t> Implement a KDF (e.g., PBKDF2, </a:t>
            </a:r>
            <a:r>
              <a:rPr lang="en-US" sz="1800" dirty="0" err="1">
                <a:latin typeface="Arial" panose="020B0604020202020204" pitchFamily="34" charset="0"/>
                <a:cs typeface="Arial" panose="020B0604020202020204" pitchFamily="34" charset="0"/>
              </a:rPr>
              <a:t>bcrypt</a:t>
            </a:r>
            <a:r>
              <a:rPr lang="en-US" sz="1800" dirty="0">
                <a:latin typeface="Arial" panose="020B0604020202020204" pitchFamily="34" charset="0"/>
                <a:cs typeface="Arial" panose="020B0604020202020204" pitchFamily="34" charset="0"/>
              </a:rPr>
              <a:t>) to derive the encryption key from the user-provided password. This would make brute-force attacks significantly more difficult</a:t>
            </a:r>
            <a:r>
              <a:rPr lang="en-US" dirty="0">
                <a:latin typeface="Arial" panose="020B0604020202020204" pitchFamily="34" charset="0"/>
                <a:cs typeface="Arial" panose="020B0604020202020204" pitchFamily="34" charset="0"/>
              </a:rPr>
              <a:t>.</a:t>
            </a:r>
          </a:p>
          <a:p>
            <a:pPr marL="0" indent="0">
              <a:buNone/>
            </a:pPr>
            <a:r>
              <a:rPr lang="en-US" sz="2000" b="1" dirty="0">
                <a:latin typeface="Arial" panose="020B0604020202020204" pitchFamily="34" charset="0"/>
                <a:cs typeface="Arial" panose="020B0604020202020204" pitchFamily="34" charset="0"/>
              </a:rPr>
              <a:t>Functional Improvements: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Support for Diverse Data Types:</a:t>
            </a:r>
            <a:r>
              <a:rPr lang="en-US" sz="1800" dirty="0">
                <a:latin typeface="Arial" panose="020B0604020202020204" pitchFamily="34" charset="0"/>
                <a:cs typeface="Arial" panose="020B0604020202020204" pitchFamily="34" charset="0"/>
              </a:rPr>
              <a:t> Extend the application to support embedding various data types beyond text, such as images, audio files, or even other files.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Increased Capacity:</a:t>
            </a:r>
            <a:r>
              <a:rPr lang="en-US" sz="1800" dirty="0">
                <a:latin typeface="Arial" panose="020B0604020202020204" pitchFamily="34" charset="0"/>
                <a:cs typeface="Arial" panose="020B0604020202020204" pitchFamily="34" charset="0"/>
              </a:rPr>
              <a:t> Investigate methods to increase the data hiding capacity without compromising imperceptibility. This could involve exploring different steganographic algorithms or optimizing the use of the LSB method.</a:t>
            </a:r>
            <a:endParaRPr lang="en-US"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148</TotalTime>
  <Words>1015</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Franklin Gothic Book</vt:lpstr>
      <vt:lpstr>Franklin Gothic Demi</vt:lpstr>
      <vt:lpstr>Wingdings 2</vt:lpstr>
      <vt:lpstr>DividendVTI</vt:lpstr>
      <vt:lpstr>Secure data hiding in image using steganography</vt:lpstr>
      <vt:lpstr>OUTLINE</vt:lpstr>
      <vt:lpstr>Problem Statement</vt:lpstr>
      <vt:lpstr>Technology  used</vt:lpstr>
      <vt:lpstr>Wow factors</vt:lpstr>
      <vt:lpstr>End users</vt:lpstr>
      <vt:lpstr>Results</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Ayushman Maurya</cp:lastModifiedBy>
  <cp:revision>36</cp:revision>
  <dcterms:created xsi:type="dcterms:W3CDTF">2021-05-26T16:50:10Z</dcterms:created>
  <dcterms:modified xsi:type="dcterms:W3CDTF">2025-02-20T16:22:31Z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